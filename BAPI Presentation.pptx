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80" r:id="rId3"/>
    <p:sldId id="259" r:id="rId4"/>
    <p:sldId id="268" r:id="rId5"/>
    <p:sldId id="281" r:id="rId6"/>
    <p:sldId id="285" r:id="rId7"/>
    <p:sldId id="286" r:id="rId8"/>
    <p:sldId id="288" r:id="rId9"/>
    <p:sldId id="289" r:id="rId10"/>
    <p:sldId id="284" r:id="rId11"/>
    <p:sldId id="278" r:id="rId12"/>
    <p:sldId id="29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63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25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75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37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704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47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08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7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18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4244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062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54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367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863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34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5466A72-F749-4128-8DAC-C6DC1B2BEC3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6D25FFF-BB1C-41E4-889A-27C5B0332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147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A81CC-B200-B29D-C244-162855E1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BE74B-584B-81E6-6635-E379E8DE1F9D}"/>
              </a:ext>
            </a:extLst>
          </p:cNvPr>
          <p:cNvSpPr txBox="1"/>
          <p:nvPr/>
        </p:nvSpPr>
        <p:spPr>
          <a:xfrm>
            <a:off x="61546" y="184638"/>
            <a:ext cx="1203666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Till Now, we successfully </a:t>
            </a:r>
          </a:p>
          <a:p>
            <a:r>
              <a:rPr lang="en-US" sz="4000" dirty="0"/>
              <a:t>uploaded data from Excel into SAP using RAP</a:t>
            </a:r>
          </a:p>
          <a:p>
            <a:endParaRPr lang="en-US" sz="4000" dirty="0"/>
          </a:p>
          <a:p>
            <a:r>
              <a:rPr lang="en-US" sz="4000" dirty="0"/>
              <a:t>Now the next question is –</a:t>
            </a:r>
          </a:p>
          <a:p>
            <a:endParaRPr lang="en-US" sz="4000" dirty="0"/>
          </a:p>
          <a:p>
            <a:r>
              <a:rPr lang="en-US" sz="4000" dirty="0"/>
              <a:t>how do we use that uploaded data to create real business records?</a:t>
            </a:r>
            <a:endParaRPr lang="en-IN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2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8771-97C7-B34D-56C6-5A5933D9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95A8F6-1762-6867-A415-C792D072058B}"/>
              </a:ext>
            </a:extLst>
          </p:cNvPr>
          <p:cNvSpPr txBox="1"/>
          <p:nvPr/>
        </p:nvSpPr>
        <p:spPr>
          <a:xfrm>
            <a:off x="61546" y="184638"/>
            <a:ext cx="120366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Let me show you , </a:t>
            </a:r>
          </a:p>
          <a:p>
            <a:r>
              <a:rPr lang="en-US" sz="4800" dirty="0"/>
              <a:t>How we can </a:t>
            </a:r>
            <a:r>
              <a:rPr lang="en-US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SAP </a:t>
            </a:r>
            <a:r>
              <a:rPr lang="en-US" sz="4800" dirty="0"/>
              <a:t>records from </a:t>
            </a:r>
            <a:r>
              <a:rPr lang="en-US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Excel uploaded Data </a:t>
            </a:r>
            <a:r>
              <a:rPr lang="en-US" sz="4800" dirty="0"/>
              <a:t>using </a:t>
            </a:r>
            <a:r>
              <a:rPr lang="en-US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BAPI </a:t>
            </a:r>
          </a:p>
          <a:p>
            <a:r>
              <a:rPr lang="en-US" sz="4800" dirty="0"/>
              <a:t>No manual entry. </a:t>
            </a:r>
          </a:p>
          <a:p>
            <a:r>
              <a:rPr lang="en-US" sz="4800" dirty="0"/>
              <a:t>No repetition. </a:t>
            </a:r>
          </a:p>
          <a:p>
            <a:r>
              <a:rPr lang="en-US" sz="4800" dirty="0"/>
              <a:t>Just clean backend logic</a:t>
            </a:r>
            <a:endParaRPr lang="en-IN" sz="4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42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0D28-EE06-3229-9ADA-61F98FED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BE6001-6C37-AE76-5228-E7B0EE0C9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02" y="1180345"/>
            <a:ext cx="11934333" cy="1864513"/>
          </a:xfrm>
        </p:spPr>
        <p:txBody>
          <a:bodyPr>
            <a:normAutofit/>
          </a:bodyPr>
          <a:lstStyle/>
          <a:p>
            <a:r>
              <a:rPr lang="en-US" sz="4400" b="1" dirty="0"/>
              <a:t>BAPI_COSTCENTER_CREATEMULTIPLE</a:t>
            </a:r>
            <a:br>
              <a:rPr lang="en-US" sz="4400" b="1" dirty="0"/>
            </a:br>
            <a:r>
              <a:rPr lang="en-US" sz="4400" b="1" dirty="0"/>
              <a:t>BAPI_COSTCENTER_CHANGEMULTIPLE</a:t>
            </a:r>
          </a:p>
        </p:txBody>
      </p:sp>
    </p:spTree>
    <p:extLst>
      <p:ext uri="{BB962C8B-B14F-4D97-AF65-F5344CB8AC3E}">
        <p14:creationId xmlns:p14="http://schemas.microsoft.com/office/powerpoint/2010/main" val="129871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6292-5C18-5419-F45C-9888E74E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BF9BB7-DC62-9609-E8D9-F3B28C95F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02" y="1180345"/>
            <a:ext cx="11934333" cy="1864513"/>
          </a:xfrm>
        </p:spPr>
        <p:txBody>
          <a:bodyPr>
            <a:normAutofit/>
          </a:bodyPr>
          <a:lstStyle/>
          <a:p>
            <a:r>
              <a:rPr lang="en-US" sz="4400" b="1" dirty="0"/>
              <a:t>Can we use BAPI /STD FM inside behaviour directly ?</a:t>
            </a:r>
          </a:p>
        </p:txBody>
      </p:sp>
    </p:spTree>
    <p:extLst>
      <p:ext uri="{BB962C8B-B14F-4D97-AF65-F5344CB8AC3E}">
        <p14:creationId xmlns:p14="http://schemas.microsoft.com/office/powerpoint/2010/main" val="242341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F09F-9E77-97E9-7987-768A8533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0C3D3B-756E-0EC7-D56E-39B5A73A9FB6}"/>
              </a:ext>
            </a:extLst>
          </p:cNvPr>
          <p:cNvSpPr txBox="1"/>
          <p:nvPr/>
        </p:nvSpPr>
        <p:spPr>
          <a:xfrm>
            <a:off x="351934" y="480767"/>
            <a:ext cx="1184006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Answer : </a:t>
            </a:r>
          </a:p>
          <a:p>
            <a:r>
              <a:rPr lang="en-US" sz="4000" b="1" dirty="0"/>
              <a:t>We cannot use this BAPI in the behavior class directly</a:t>
            </a:r>
          </a:p>
          <a:p>
            <a:endParaRPr lang="en-US" sz="4000" b="1" dirty="0"/>
          </a:p>
          <a:p>
            <a:pPr algn="ctr"/>
            <a:r>
              <a:rPr lang="en-US" sz="9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74422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763D-094D-4D93-C7CB-5EE9D6AF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BC6EB6-C058-0A01-3C4D-06A9C7B36F5D}"/>
              </a:ext>
            </a:extLst>
          </p:cNvPr>
          <p:cNvSpPr txBox="1"/>
          <p:nvPr/>
        </p:nvSpPr>
        <p:spPr>
          <a:xfrm>
            <a:off x="920684" y="160605"/>
            <a:ext cx="11840066" cy="570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When you call BAPI directly inside Behavior </a:t>
            </a:r>
          </a:p>
          <a:p>
            <a:r>
              <a:rPr lang="en-US" sz="2800" dirty="0">
                <a:solidFill>
                  <a:srgbClr val="00B050"/>
                </a:solidFill>
              </a:rPr>
              <a:t>RAP LUW runs everything in </a:t>
            </a:r>
            <a:r>
              <a:rPr lang="en-US" sz="2800" b="1" dirty="0">
                <a:solidFill>
                  <a:srgbClr val="00B050"/>
                </a:solidFill>
              </a:rPr>
              <a:t>ONE internal session </a:t>
            </a:r>
            <a:r>
              <a:rPr lang="en-US" sz="2800" b="1" dirty="0" err="1">
                <a:solidFill>
                  <a:srgbClr val="00B050"/>
                </a:solidFill>
              </a:rPr>
              <a:t>ie</a:t>
            </a:r>
            <a:endParaRPr lang="en-US" sz="2800" b="1" dirty="0">
              <a:solidFill>
                <a:srgbClr val="00B050"/>
              </a:solidFill>
            </a:endParaRPr>
          </a:p>
          <a:p>
            <a:r>
              <a:rPr lang="en-IN" sz="2000" dirty="0"/>
              <a:t>RAP Save Starts</a:t>
            </a:r>
          </a:p>
          <a:p>
            <a:endParaRPr lang="en-IN" sz="2000" dirty="0"/>
          </a:p>
          <a:p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Session A begins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/>
              <a:t>Behaviour logic runs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/>
              <a:t>BAPI executes COMMIT WORK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/>
              <a:t>the current session LUW is already committed and closed</a:t>
            </a:r>
            <a:endParaRPr lang="en-IN" sz="2400" dirty="0"/>
          </a:p>
          <a:p>
            <a:r>
              <a:rPr lang="en-IN" sz="1050" dirty="0"/>
              <a:t> </a:t>
            </a:r>
            <a:endParaRPr lang="en-IN" sz="2400" dirty="0"/>
          </a:p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session A continues </a:t>
            </a:r>
          </a:p>
          <a:p>
            <a:endParaRPr lang="en-IN" sz="1400" dirty="0"/>
          </a:p>
          <a:p>
            <a:r>
              <a:rPr lang="en-IN" sz="2400" dirty="0"/>
              <a:t>Final RAP commit </a:t>
            </a:r>
          </a:p>
          <a:p>
            <a:endParaRPr lang="en-IN" sz="2400" dirty="0"/>
          </a:p>
          <a:p>
            <a:r>
              <a:rPr lang="en-IN" sz="2400" b="1" dirty="0">
                <a:solidFill>
                  <a:srgbClr val="00B0F0"/>
                </a:solidFill>
              </a:rPr>
              <a:t>DUMP OCCUR</a:t>
            </a:r>
            <a:endParaRPr lang="en-US" sz="2400" b="1" dirty="0">
              <a:solidFill>
                <a:srgbClr val="00B0F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B23518D-4181-D1C9-7FC4-F13C74C60468}"/>
              </a:ext>
            </a:extLst>
          </p:cNvPr>
          <p:cNvCxnSpPr>
            <a:cxnSpLocks/>
          </p:cNvCxnSpPr>
          <p:nvPr/>
        </p:nvCxnSpPr>
        <p:spPr>
          <a:xfrm flipH="1">
            <a:off x="2060393" y="2712381"/>
            <a:ext cx="2629" cy="398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893053-7190-CED0-65BE-1A09427683C9}"/>
              </a:ext>
            </a:extLst>
          </p:cNvPr>
          <p:cNvCxnSpPr>
            <a:cxnSpLocks/>
          </p:cNvCxnSpPr>
          <p:nvPr/>
        </p:nvCxnSpPr>
        <p:spPr>
          <a:xfrm flipH="1">
            <a:off x="2039545" y="3307344"/>
            <a:ext cx="20848" cy="389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85636D-14DC-5F46-4A6D-6EBEA1465372}"/>
              </a:ext>
            </a:extLst>
          </p:cNvPr>
          <p:cNvCxnSpPr>
            <a:cxnSpLocks/>
          </p:cNvCxnSpPr>
          <p:nvPr/>
        </p:nvCxnSpPr>
        <p:spPr>
          <a:xfrm>
            <a:off x="2107802" y="3920191"/>
            <a:ext cx="0" cy="2157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F8FF56-A26B-4ADB-6D56-3667A8496E9B}"/>
              </a:ext>
            </a:extLst>
          </p:cNvPr>
          <p:cNvCxnSpPr>
            <a:cxnSpLocks/>
          </p:cNvCxnSpPr>
          <p:nvPr/>
        </p:nvCxnSpPr>
        <p:spPr>
          <a:xfrm>
            <a:off x="2074264" y="4505651"/>
            <a:ext cx="0" cy="1991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25A332-0D11-88FF-3558-C1D56A593239}"/>
              </a:ext>
            </a:extLst>
          </p:cNvPr>
          <p:cNvCxnSpPr>
            <a:cxnSpLocks/>
          </p:cNvCxnSpPr>
          <p:nvPr/>
        </p:nvCxnSpPr>
        <p:spPr>
          <a:xfrm>
            <a:off x="2107802" y="5132738"/>
            <a:ext cx="8699" cy="299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1A95B1-8322-E305-11BD-C8DC7B96F780}"/>
              </a:ext>
            </a:extLst>
          </p:cNvPr>
          <p:cNvCxnSpPr>
            <a:cxnSpLocks/>
          </p:cNvCxnSpPr>
          <p:nvPr/>
        </p:nvCxnSpPr>
        <p:spPr>
          <a:xfrm>
            <a:off x="2042174" y="1492427"/>
            <a:ext cx="0" cy="398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DD46C3-5FA7-2080-A99B-28911C264E71}"/>
              </a:ext>
            </a:extLst>
          </p:cNvPr>
          <p:cNvCxnSpPr>
            <a:cxnSpLocks/>
          </p:cNvCxnSpPr>
          <p:nvPr/>
        </p:nvCxnSpPr>
        <p:spPr>
          <a:xfrm flipH="1">
            <a:off x="2039545" y="2122484"/>
            <a:ext cx="2629" cy="398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48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D36C-C922-7243-9CB1-A43BD54E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429B82-8948-134E-22BF-DE00C8CE1E2A}"/>
              </a:ext>
            </a:extLst>
          </p:cNvPr>
          <p:cNvSpPr txBox="1"/>
          <p:nvPr/>
        </p:nvSpPr>
        <p:spPr>
          <a:xfrm>
            <a:off x="160256" y="207390"/>
            <a:ext cx="1184006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After BAPI Commit ,</a:t>
            </a:r>
          </a:p>
          <a:p>
            <a:r>
              <a:rPr lang="en-IN" sz="3200" dirty="0"/>
              <a:t>RAP continues processing (thinking LUW is still open)</a:t>
            </a:r>
          </a:p>
          <a:p>
            <a:r>
              <a:rPr lang="en-US" sz="3200" dirty="0"/>
              <a:t>Ie it tries to continue its save sequence:</a:t>
            </a:r>
          </a:p>
          <a:p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lock handling</a:t>
            </a:r>
          </a:p>
          <a:p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draft handling</a:t>
            </a:r>
          </a:p>
          <a:p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late numbering</a:t>
            </a:r>
          </a:p>
          <a:p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final commit</a:t>
            </a:r>
          </a:p>
          <a:p>
            <a:r>
              <a:rPr lang="en-US" sz="3200" dirty="0"/>
              <a:t>But the </a:t>
            </a:r>
            <a:r>
              <a:rPr lang="en-US" sz="3200" dirty="0">
                <a:solidFill>
                  <a:srgbClr val="00B050"/>
                </a:solidFill>
              </a:rPr>
              <a:t>LUW</a:t>
            </a:r>
            <a:r>
              <a:rPr lang="en-US" sz="3200" dirty="0"/>
              <a:t> is already closed.</a:t>
            </a:r>
          </a:p>
          <a:p>
            <a:endParaRPr lang="en-US" sz="3200" dirty="0"/>
          </a:p>
          <a:p>
            <a:r>
              <a:rPr lang="en-US" sz="3200" dirty="0"/>
              <a:t>Here the mismatch happened and </a:t>
            </a:r>
          </a:p>
          <a:p>
            <a:r>
              <a:rPr lang="en-US" sz="3200" dirty="0"/>
              <a:t>RAP loses transactional control and  </a:t>
            </a:r>
            <a:r>
              <a:rPr lang="en-US" sz="3200" b="1" dirty="0">
                <a:solidFill>
                  <a:srgbClr val="00B050"/>
                </a:solidFill>
              </a:rPr>
              <a:t>framework contract violation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</a:p>
          <a:p>
            <a:r>
              <a:rPr lang="en-US" sz="3200" dirty="0"/>
              <a:t>occurs and which leads to inconsistency and we get a dump 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714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CE3B2-B034-621E-D827-3FC5A8F7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09F06A-405F-D00B-969D-ABE847BFDC6A}"/>
              </a:ext>
            </a:extLst>
          </p:cNvPr>
          <p:cNvSpPr txBox="1"/>
          <p:nvPr/>
        </p:nvSpPr>
        <p:spPr>
          <a:xfrm>
            <a:off x="351934" y="471340"/>
            <a:ext cx="1184006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How do we use BAPI ?</a:t>
            </a:r>
          </a:p>
          <a:p>
            <a:r>
              <a:rPr lang="en-US" sz="4400" b="1" dirty="0"/>
              <a:t>Solution :</a:t>
            </a:r>
          </a:p>
          <a:p>
            <a:r>
              <a:rPr lang="en-US" sz="4000" b="1" dirty="0"/>
              <a:t>           </a:t>
            </a:r>
            <a:r>
              <a:rPr lang="en-US" sz="4000" b="1" dirty="0">
                <a:solidFill>
                  <a:srgbClr val="00B050"/>
                </a:solidFill>
              </a:rPr>
              <a:t>Wrapping the BAPI / FM inside a class</a:t>
            </a:r>
          </a:p>
          <a:p>
            <a:r>
              <a:rPr lang="en-US" sz="4000" b="1" dirty="0">
                <a:solidFill>
                  <a:srgbClr val="00B050"/>
                </a:solidFill>
              </a:rPr>
              <a:t>   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How will this be done and called ?</a:t>
            </a:r>
          </a:p>
          <a:p>
            <a:pPr lvl="1"/>
            <a:r>
              <a:rPr lang="en-US" sz="3200" dirty="0"/>
              <a:t>Since we are on On-Premise system , so we will use </a:t>
            </a:r>
          </a:p>
          <a:p>
            <a:pPr lvl="1"/>
            <a:r>
              <a:rPr lang="en-US" sz="3200" b="1" dirty="0">
                <a:solidFill>
                  <a:srgbClr val="00B050"/>
                </a:solidFill>
              </a:rPr>
              <a:t>BAPI  in Save Sequence </a:t>
            </a:r>
            <a:r>
              <a:rPr lang="en-US" sz="3200" dirty="0"/>
              <a:t>i.e.</a:t>
            </a:r>
          </a:p>
          <a:p>
            <a:pPr marL="2800350" lvl="5" indent="-514350">
              <a:buFont typeface="+mj-lt"/>
              <a:buAutoNum type="arabicPeriod"/>
            </a:pPr>
            <a:r>
              <a:rPr lang="en-US" sz="3200" dirty="0"/>
              <a:t>Call BAPI in </a:t>
            </a:r>
          </a:p>
          <a:p>
            <a:pPr marL="2800350" lvl="5" indent="-514350">
              <a:buFont typeface="+mj-lt"/>
              <a:buAutoNum type="arabicPeriod"/>
            </a:pPr>
            <a:r>
              <a:rPr lang="en-US" sz="3200" dirty="0"/>
              <a:t>FINALIZE, </a:t>
            </a:r>
          </a:p>
          <a:p>
            <a:pPr marL="2800350" lvl="5" indent="-514350">
              <a:buFont typeface="+mj-lt"/>
              <a:buAutoNum type="arabicPeriod"/>
            </a:pPr>
            <a:r>
              <a:rPr lang="en-US" sz="3200" dirty="0"/>
              <a:t>CHECK_BEFORE_SAVE, </a:t>
            </a:r>
          </a:p>
          <a:p>
            <a:pPr marL="2800350" lvl="5" indent="-514350">
              <a:buFont typeface="+mj-lt"/>
              <a:buAutoNum type="arabicPeriod"/>
            </a:pPr>
            <a:r>
              <a:rPr lang="en-US" sz="3200" dirty="0"/>
              <a:t>SAVE or SAVE_MODIFIED method</a:t>
            </a:r>
          </a:p>
          <a:p>
            <a:endParaRPr lang="en-US" sz="4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CE0E-0D7B-A5D6-8B4A-700DE8C4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450201-36D8-24EC-5A3A-55B31DBB0D1C}"/>
              </a:ext>
            </a:extLst>
          </p:cNvPr>
          <p:cNvSpPr txBox="1"/>
          <p:nvPr/>
        </p:nvSpPr>
        <p:spPr>
          <a:xfrm>
            <a:off x="351934" y="471340"/>
            <a:ext cx="11840066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How ?</a:t>
            </a:r>
          </a:p>
          <a:p>
            <a:pPr algn="ctr"/>
            <a:r>
              <a:rPr lang="en-US" sz="3200" dirty="0"/>
              <a:t>we will use 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</a:rPr>
              <a:t>Managed with Unmanaged Save implementation.</a:t>
            </a:r>
          </a:p>
          <a:p>
            <a:pPr algn="ctr"/>
            <a:r>
              <a:rPr lang="en-US" sz="3200" dirty="0"/>
              <a:t>Now creating the wrapper class is fine,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How the BAPI will be called inside the wrapper ?</a:t>
            </a:r>
          </a:p>
          <a:p>
            <a:pPr algn="ctr"/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200" dirty="0"/>
              <a:t> BAPI will be called inside the wrapper with </a:t>
            </a:r>
          </a:p>
          <a:p>
            <a:pPr algn="ctr"/>
            <a:r>
              <a:rPr lang="en-US" sz="3200" dirty="0">
                <a:solidFill>
                  <a:srgbClr val="00B050"/>
                </a:solidFill>
              </a:rPr>
              <a:t>RFC destination none </a:t>
            </a:r>
          </a:p>
          <a:p>
            <a:pPr algn="ctr"/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not simple BAPI call</a:t>
            </a:r>
          </a:p>
          <a:p>
            <a:endParaRPr lang="en-US" sz="4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9DAC0-AC5A-C83D-32EA-A1578BC7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69DEFE-7061-0BA5-B3FA-62138D62333F}"/>
              </a:ext>
            </a:extLst>
          </p:cNvPr>
          <p:cNvSpPr txBox="1"/>
          <p:nvPr/>
        </p:nvSpPr>
        <p:spPr>
          <a:xfrm>
            <a:off x="113122" y="122549"/>
            <a:ext cx="1191548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is the benefit of creating wrapper class ?</a:t>
            </a:r>
          </a:p>
          <a:p>
            <a:r>
              <a:rPr lang="en-US" sz="2000" dirty="0">
                <a:solidFill>
                  <a:srgbClr val="00B0F0"/>
                </a:solidFill>
              </a:rPr>
              <a:t>All BAPI logic (mapping, commit handling, error ) stays in one place.</a:t>
            </a:r>
          </a:p>
          <a:p>
            <a:r>
              <a:rPr lang="en-US" sz="2000" dirty="0">
                <a:solidFill>
                  <a:srgbClr val="00B0F0"/>
                </a:solidFill>
              </a:rPr>
              <a:t>It allows the BAPI to execute  all its LUW in a separate internal session </a:t>
            </a:r>
          </a:p>
          <a:p>
            <a:r>
              <a:rPr lang="en-US" sz="2000" dirty="0">
                <a:solidFill>
                  <a:srgbClr val="00B0F0"/>
                </a:solidFill>
              </a:rPr>
              <a:t>(when used with RFC 'NONE’ ).</a:t>
            </a:r>
          </a:p>
          <a:p>
            <a:r>
              <a:rPr lang="en-US" sz="2800" b="1" dirty="0"/>
              <a:t>How BAPI is called inside wrapper class ?</a:t>
            </a:r>
          </a:p>
          <a:p>
            <a:r>
              <a:rPr lang="en-US" sz="2000" dirty="0">
                <a:solidFill>
                  <a:srgbClr val="00B0F0"/>
                </a:solidFill>
              </a:rPr>
              <a:t>CALL FUNCTION ‘</a:t>
            </a:r>
            <a:r>
              <a:rPr lang="en-US" sz="2000" dirty="0">
                <a:solidFill>
                  <a:srgbClr val="00B050"/>
                </a:solidFill>
              </a:rPr>
              <a:t>Z_BAPI_...'</a:t>
            </a:r>
            <a:br>
              <a:rPr lang="en-US" sz="2000" dirty="0">
                <a:solidFill>
                  <a:srgbClr val="00B0F0"/>
                </a:solidFill>
              </a:rPr>
            </a:br>
            <a:r>
              <a:rPr lang="en-US" sz="2000" dirty="0">
                <a:solidFill>
                  <a:srgbClr val="00B0F0"/>
                </a:solidFill>
              </a:rPr>
              <a:t>DESTINATION </a:t>
            </a:r>
            <a:r>
              <a:rPr lang="en-US" sz="2000" dirty="0">
                <a:solidFill>
                  <a:srgbClr val="00B050"/>
                </a:solidFill>
              </a:rPr>
              <a:t>'NONE'</a:t>
            </a:r>
            <a:br>
              <a:rPr lang="en-US" sz="2000" dirty="0">
                <a:solidFill>
                  <a:srgbClr val="00B0F0"/>
                </a:solidFill>
              </a:rPr>
            </a:br>
            <a:r>
              <a:rPr lang="en-US" sz="2000" dirty="0">
                <a:solidFill>
                  <a:srgbClr val="00B0F0"/>
                </a:solidFill>
              </a:rPr>
              <a:t>EXPORTING ...</a:t>
            </a:r>
            <a:br>
              <a:rPr lang="en-US" sz="2000" dirty="0">
                <a:solidFill>
                  <a:srgbClr val="00B0F0"/>
                </a:solidFill>
              </a:rPr>
            </a:br>
            <a:r>
              <a:rPr lang="en-US" sz="2000" dirty="0">
                <a:solidFill>
                  <a:srgbClr val="00B0F0"/>
                </a:solidFill>
              </a:rPr>
              <a:t>IMPORTING ...</a:t>
            </a:r>
          </a:p>
          <a:p>
            <a:r>
              <a:rPr lang="en-IN" sz="2800" b="1" dirty="0"/>
              <a:t>Does RFC Wrapper Hinder RAP LUW?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No. Because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RFC creates separate internal session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Separate session = separate LUW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BAPI commit only closes its own LUW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72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6F87-098B-9FB9-0052-F8EF2CDD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F544527-9EFD-8942-23ED-2CCEB66F9505}"/>
              </a:ext>
            </a:extLst>
          </p:cNvPr>
          <p:cNvSpPr txBox="1"/>
          <p:nvPr/>
        </p:nvSpPr>
        <p:spPr>
          <a:xfrm>
            <a:off x="315797" y="0"/>
            <a:ext cx="863023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presses SAVE</a:t>
            </a:r>
          </a:p>
          <a:p>
            <a:endParaRPr lang="en-IN" dirty="0"/>
          </a:p>
          <a:p>
            <a:r>
              <a:rPr lang="en-IN" dirty="0"/>
              <a:t>RAP Save Sequence Starts</a:t>
            </a:r>
          </a:p>
          <a:p>
            <a:r>
              <a:rPr lang="en-IN" dirty="0"/>
              <a:t>(Session A - RAP LUW opened)</a:t>
            </a:r>
          </a:p>
          <a:p>
            <a:endParaRPr lang="en-IN" dirty="0"/>
          </a:p>
          <a:p>
            <a:r>
              <a:rPr lang="en-IN" dirty="0"/>
              <a:t>RAP performs:</a:t>
            </a:r>
          </a:p>
          <a:p>
            <a:endParaRPr lang="en-IN" dirty="0"/>
          </a:p>
          <a:p>
            <a:r>
              <a:rPr lang="en-IN" dirty="0"/>
              <a:t>RAP calls Wrapper</a:t>
            </a:r>
          </a:p>
          <a:p>
            <a:endParaRPr lang="en-IN" dirty="0"/>
          </a:p>
          <a:p>
            <a:r>
              <a:rPr lang="en-IN" dirty="0"/>
              <a:t>CALL FUNCTION 'Z_WRAPPER’ DESTINATION 'NONE’</a:t>
            </a:r>
          </a:p>
          <a:p>
            <a:endParaRPr lang="en-IN" dirty="0"/>
          </a:p>
          <a:p>
            <a:r>
              <a:rPr lang="en-IN" dirty="0"/>
              <a:t>New Internal Session Created</a:t>
            </a:r>
          </a:p>
          <a:p>
            <a:r>
              <a:rPr lang="en-IN" dirty="0"/>
              <a:t>(Session B - Separate LUW)</a:t>
            </a:r>
          </a:p>
          <a:p>
            <a:endParaRPr lang="en-IN" dirty="0"/>
          </a:p>
          <a:p>
            <a:r>
              <a:rPr lang="en-IN" dirty="0"/>
              <a:t>Wrapper Class Executes , Calls BAPI, COMMIT </a:t>
            </a:r>
          </a:p>
          <a:p>
            <a:r>
              <a:rPr lang="en-IN" dirty="0"/>
              <a:t>(COMMIT affects Session B only)</a:t>
            </a:r>
          </a:p>
          <a:p>
            <a:r>
              <a:rPr lang="en-IN" dirty="0"/>
              <a:t>Session B Ends</a:t>
            </a:r>
          </a:p>
          <a:p>
            <a:endParaRPr lang="en-IN" dirty="0"/>
          </a:p>
          <a:p>
            <a:r>
              <a:rPr lang="en-IN" dirty="0"/>
              <a:t>(Control returns to RAP) RAP Save Sequence Continues</a:t>
            </a:r>
          </a:p>
          <a:p>
            <a:r>
              <a:rPr lang="en-IN" dirty="0"/>
              <a:t>(Session A still open)</a:t>
            </a:r>
          </a:p>
          <a:p>
            <a:r>
              <a:rPr lang="en-IN" dirty="0"/>
              <a:t>RAP Performs Final COMMIT</a:t>
            </a:r>
          </a:p>
          <a:p>
            <a:endParaRPr lang="en-IN" dirty="0"/>
          </a:p>
          <a:p>
            <a:r>
              <a:rPr lang="en-IN" dirty="0"/>
              <a:t>Transaction Finished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9514CC-B3F4-ADF7-A5E9-9C8BB38144FC}"/>
              </a:ext>
            </a:extLst>
          </p:cNvPr>
          <p:cNvCxnSpPr/>
          <p:nvPr/>
        </p:nvCxnSpPr>
        <p:spPr>
          <a:xfrm>
            <a:off x="1102934" y="339365"/>
            <a:ext cx="0" cy="301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841A2F-6CC8-6ECA-B99E-000853D60A77}"/>
              </a:ext>
            </a:extLst>
          </p:cNvPr>
          <p:cNvCxnSpPr/>
          <p:nvPr/>
        </p:nvCxnSpPr>
        <p:spPr>
          <a:xfrm>
            <a:off x="989813" y="1206629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7C40AE5-20E0-4D77-B950-E246C475A36E}"/>
              </a:ext>
            </a:extLst>
          </p:cNvPr>
          <p:cNvCxnSpPr/>
          <p:nvPr/>
        </p:nvCxnSpPr>
        <p:spPr>
          <a:xfrm>
            <a:off x="2064470" y="1621410"/>
            <a:ext cx="2535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D3544F2-B4E2-57C5-B927-F30466922F48}"/>
              </a:ext>
            </a:extLst>
          </p:cNvPr>
          <p:cNvSpPr/>
          <p:nvPr/>
        </p:nvSpPr>
        <p:spPr>
          <a:xfrm>
            <a:off x="4736970" y="1357458"/>
            <a:ext cx="3223966" cy="1055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07EFC1-4499-17F3-4B80-4AA4C3B7BBD4}"/>
              </a:ext>
            </a:extLst>
          </p:cNvPr>
          <p:cNvSpPr txBox="1"/>
          <p:nvPr/>
        </p:nvSpPr>
        <p:spPr>
          <a:xfrm>
            <a:off x="4920792" y="1451726"/>
            <a:ext cx="2639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Validations</a:t>
            </a:r>
          </a:p>
          <a:p>
            <a:r>
              <a:rPr lang="en-IN" dirty="0"/>
              <a:t>Determinations</a:t>
            </a:r>
          </a:p>
          <a:p>
            <a:r>
              <a:rPr lang="en-IN" dirty="0"/>
              <a:t>Buffer preparation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B273DA-2CC1-2A14-7363-22685595377D}"/>
              </a:ext>
            </a:extLst>
          </p:cNvPr>
          <p:cNvCxnSpPr/>
          <p:nvPr/>
        </p:nvCxnSpPr>
        <p:spPr>
          <a:xfrm>
            <a:off x="989813" y="1762812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292B5D-32E4-8770-E430-E6220677F598}"/>
              </a:ext>
            </a:extLst>
          </p:cNvPr>
          <p:cNvCxnSpPr/>
          <p:nvPr/>
        </p:nvCxnSpPr>
        <p:spPr>
          <a:xfrm>
            <a:off x="970960" y="2299643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501F06-4E79-8138-C6D2-B82A254246BD}"/>
              </a:ext>
            </a:extLst>
          </p:cNvPr>
          <p:cNvCxnSpPr/>
          <p:nvPr/>
        </p:nvCxnSpPr>
        <p:spPr>
          <a:xfrm>
            <a:off x="970959" y="2768627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EE9009-2FDE-E491-E8EA-874940300D64}"/>
              </a:ext>
            </a:extLst>
          </p:cNvPr>
          <p:cNvCxnSpPr/>
          <p:nvPr/>
        </p:nvCxnSpPr>
        <p:spPr>
          <a:xfrm>
            <a:off x="970959" y="3617037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8DB340D-7E2B-34A5-C834-8DBED01F06C0}"/>
              </a:ext>
            </a:extLst>
          </p:cNvPr>
          <p:cNvCxnSpPr/>
          <p:nvPr/>
        </p:nvCxnSpPr>
        <p:spPr>
          <a:xfrm>
            <a:off x="1018090" y="4729400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3AC5F42-7C73-9294-4B54-E1C21DB1684B}"/>
              </a:ext>
            </a:extLst>
          </p:cNvPr>
          <p:cNvCxnSpPr/>
          <p:nvPr/>
        </p:nvCxnSpPr>
        <p:spPr>
          <a:xfrm>
            <a:off x="989807" y="5879471"/>
            <a:ext cx="0" cy="245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22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7B24A-24BA-E8B6-6FD3-D45D3A9D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BC5CB-08B1-342C-EA3C-A61778EA577C}"/>
              </a:ext>
            </a:extLst>
          </p:cNvPr>
          <p:cNvSpPr txBox="1"/>
          <p:nvPr/>
        </p:nvSpPr>
        <p:spPr>
          <a:xfrm>
            <a:off x="377072" y="659876"/>
            <a:ext cx="1155726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There are two ways to create wrapper class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Using ACO_PROXY Tcode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Manually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20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926</TotalTime>
  <Words>514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raj</dc:creator>
  <cp:lastModifiedBy>vivek raj</cp:lastModifiedBy>
  <cp:revision>8</cp:revision>
  <dcterms:created xsi:type="dcterms:W3CDTF">2026-03-03T10:10:20Z</dcterms:created>
  <dcterms:modified xsi:type="dcterms:W3CDTF">2026-03-06T08:50:12Z</dcterms:modified>
</cp:coreProperties>
</file>